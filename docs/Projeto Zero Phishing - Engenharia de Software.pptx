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Urbanist SemiBold"/>
      <p:regular r:id="rId30"/>
      <p:bold r:id="rId31"/>
      <p:italic r:id="rId32"/>
      <p:boldItalic r:id="rId33"/>
    </p:embeddedFont>
    <p:embeddedFont>
      <p:font typeface="Urbanis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SemiBold-bold.fntdata"/><Relationship Id="rId30" Type="http://schemas.openxmlformats.org/officeDocument/2006/relationships/font" Target="fonts/Urbanist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Urbanist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UrbanistSemiBold-italic.fntdata"/><Relationship Id="rId13" Type="http://schemas.openxmlformats.org/officeDocument/2006/relationships/slide" Target="slides/slide8.xml"/><Relationship Id="rId35" Type="http://schemas.openxmlformats.org/officeDocument/2006/relationships/font" Target="fonts/Urbanist-bold.fntdata"/><Relationship Id="rId12" Type="http://schemas.openxmlformats.org/officeDocument/2006/relationships/slide" Target="slides/slide7.xml"/><Relationship Id="rId34" Type="http://schemas.openxmlformats.org/officeDocument/2006/relationships/font" Target="fonts/Urbanist-regular.fntdata"/><Relationship Id="rId15" Type="http://schemas.openxmlformats.org/officeDocument/2006/relationships/slide" Target="slides/slide10.xml"/><Relationship Id="rId37" Type="http://schemas.openxmlformats.org/officeDocument/2006/relationships/font" Target="fonts/Urbanist-boldItalic.fntdata"/><Relationship Id="rId14" Type="http://schemas.openxmlformats.org/officeDocument/2006/relationships/slide" Target="slides/slide9.xml"/><Relationship Id="rId36" Type="http://schemas.openxmlformats.org/officeDocument/2006/relationships/font" Target="fonts/Urbanis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c1f5e446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c1f5e4465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1f5e4465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c1f5e4465_0_3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c1f5e4465_0_6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c1f5e4465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d73fee1da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d73fee1d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c26588aa6_10_4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c26588aa6_1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c26588aa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c26588aa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d73fee1da_37_0)">
  <p:cSld name="Generated (g3ed73fee1da_3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9.jpg"/><Relationship Id="rId5" Type="http://schemas.openxmlformats.org/officeDocument/2006/relationships/image" Target="../media/image14.jpg"/><Relationship Id="rId6" Type="http://schemas.openxmlformats.org/officeDocument/2006/relationships/image" Target="../media/image30.jpg"/><Relationship Id="rId7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43.jp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41.png"/><Relationship Id="rId6" Type="http://schemas.openxmlformats.org/officeDocument/2006/relationships/image" Target="../media/image31.png"/><Relationship Id="rId7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3935730" y="2221259"/>
            <a:ext cx="432054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Zero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Phishing</a:t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2825988" y="3290401"/>
            <a:ext cx="654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Engenharia de Software: Da Concepção ao Movimento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5119650" y="5539066"/>
            <a:ext cx="1952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IFMT - Campus Cuiabá</a:t>
            </a:r>
            <a:endParaRPr/>
          </a:p>
        </p:txBody>
      </p:sp>
      <p:pic>
        <p:nvPicPr>
          <p:cNvPr descr="image.png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1700700" y="4864750"/>
            <a:ext cx="87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Alunos: Kauan Barbosa, Keven Vaz, João Heitor e Matheus Lobo</a:t>
            </a:r>
            <a:endParaRPr sz="1600"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5619750" y="270033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2770584" y="3024187"/>
            <a:ext cx="665083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Visão Geral do Produto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3819525" y="3948112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Proteção em tempo real contra ameaças cibernéticas</a:t>
            </a:r>
            <a:endParaRPr/>
          </a:p>
        </p:txBody>
      </p:sp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71500" y="24145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 Ameaça Permanente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571500" y="2824162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Phishing e malware são vetores críticos de roubo de dados. Usuários comuns e empresas carecem de ferramentas leves que integrem múltiplas fontes de inteligência em tempo real.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904875" y="392906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Detecção reativa e lenta por parte do usuário.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904875" y="437673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Falta de controle parental centralizado.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904875" y="482441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Vazamentos de dados não monitorados.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 Problema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29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3767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824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title="2019072510391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4250" y="1578750"/>
            <a:ext cx="5815076" cy="370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09700"/>
            <a:ext cx="54292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1409700"/>
            <a:ext cx="54292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71975"/>
            <a:ext cx="54292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4371975"/>
            <a:ext cx="5429250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1247775" y="170497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Público-Alvo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866775" y="2171700"/>
            <a:ext cx="4838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Para: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Pessoas comuns e entusiastas de segurança que se preocupam com os sites que acessam e querem se proteger de golpes digitais, senhas roubadas e conteúdo inapropriado.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6810375" y="1704975"/>
            <a:ext cx="47405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 Produto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6486525" y="2171700"/>
            <a:ext cx="4838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 ZeroPhishing é: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Uma extensão gratuita e transparente para o navegador que detecta sites falsos e links perigosos em tempo real, verifica se o seu e-mail já apareceu em vazamentos de dados na internet e permite controle de acesso.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190625" y="4667250"/>
            <a:ext cx="47405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 Diferencial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66775" y="5133975"/>
            <a:ext cx="483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Diferente de: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Ferramentas pagas e fechadas que escondem como funcionam e coletam seus dados sem avisar.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810375" y="4667250"/>
            <a:ext cx="47405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Nossa Entrega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486525" y="5133975"/>
            <a:ext cx="483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Nosso Produto: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Apresenta resultados claros e verificáveis, com uma interface simples para o dia a dia e detalhes técnicos para quem quiser se aprofundar.</a:t>
            </a:r>
            <a:endParaRPr/>
          </a:p>
        </p:txBody>
      </p:sp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17287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17287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6910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46910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 Solução: Visão do Produto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9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895475"/>
            <a:ext cx="53340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3943350"/>
            <a:ext cx="5334000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6581775" y="219075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Concepção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6581775" y="265747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Definição do escopo: Extensão de navegador (WXT/React) integrada a um backend robusto (Django).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581775" y="42386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Análise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581775" y="4705350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Levantamento de requisitos funcionais como interceptação de URLs e consulta a APIs SafeBrowsing.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762000" y="571500"/>
            <a:ext cx="11401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Concepção e Análise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title="banner-phishing-fraude-de-senhas-e-execucao-de-malware-sao-as-tecnicas-mais-recorrentes-de-ataques-as-organizacoes.jpg"/>
          <p:cNvPicPr preferRelativeResize="0"/>
          <p:nvPr/>
        </p:nvPicPr>
        <p:blipFill rotWithShape="1">
          <a:blip r:embed="rId5">
            <a:alphaModFix/>
          </a:blip>
          <a:srcRect b="0" l="28452" r="2573" t="0"/>
          <a:stretch/>
        </p:blipFill>
        <p:spPr>
          <a:xfrm>
            <a:off x="1141179" y="2366302"/>
            <a:ext cx="4125774" cy="26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5619750" y="270033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2285523" y="3024187"/>
            <a:ext cx="7620952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Ciclo de Vida do Software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243387" y="3948112"/>
            <a:ext cx="3705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metodologia por trás do desenvolvimento</a:t>
            </a:r>
            <a:endParaRPr/>
          </a:p>
        </p:txBody>
      </p:sp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00274"/>
            <a:ext cx="43434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2033587"/>
            <a:ext cx="65151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909100" y="2424112"/>
            <a:ext cx="394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Arquitetura Distribuída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909100" y="2890837"/>
            <a:ext cx="37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Separação clara entre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Extensão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e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(REST API).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909100" y="3690937"/>
            <a:ext cx="37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Uso de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JWT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autenticação segura e acesso rápido.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399725" y="2424112"/>
            <a:ext cx="622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Diagramas de Classe e Processo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399725" y="2890837"/>
            <a:ext cx="592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Modelagem detalhada de entidades: 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Usuário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Controle parental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Listas de bloqueio padrão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399725" y="3690937"/>
            <a:ext cx="592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Processo de interceptação assíncrona para não impactar a performance do navegador.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Arquitetura geral do projeto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3597404" y="4931913"/>
            <a:ext cx="3000000" cy="1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settings_input_component dns</a:t>
            </a:r>
            <a:endParaRPr sz="6000">
              <a:solidFill>
                <a:srgbClr val="3B82F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Arquitetura Modular &amp; Desacoplada</a:t>
            </a:r>
            <a:endParaRPr sz="12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4596000" y="5176825"/>
            <a:ext cx="3000000" cy="1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settings_input_component dns</a:t>
            </a:r>
            <a:endParaRPr sz="6000">
              <a:solidFill>
                <a:srgbClr val="3B82F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Arquitetura Modular &amp; Desacoplada</a:t>
            </a:r>
            <a:endParaRPr sz="12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909100" y="3515025"/>
            <a:ext cx="375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Modelo de dados relacional baseado em agrupamentos de usuários com papéis.</a:t>
            </a:r>
            <a:endParaRPr b="0" sz="1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Arquitetura do Backend</a:t>
            </a:r>
            <a:endParaRPr b="0" sz="36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909100" y="1524000"/>
            <a:ext cx="3940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Gestão de Acessos (IAM)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909100" y="1905000"/>
            <a:ext cx="3753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Implementação baseada em </a:t>
            </a:r>
            <a:r>
              <a:rPr b="1" lang="en-US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JWT</a:t>
            </a:r>
            <a:r>
              <a:rPr b="0" lang="en-US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tokens com ciclo de vida de acesso e refresh.</a:t>
            </a:r>
            <a:endParaRPr b="0" sz="1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909100" y="2857500"/>
            <a:ext cx="3940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Estrutura de </a:t>
            </a: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Controle Parental e Fam</a:t>
            </a: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ílias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399723" y="1524000"/>
            <a:ext cx="6220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Pipeline de Dados de Ameaças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399723" y="1905000"/>
            <a:ext cx="5924700" cy="91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Comando customizado atuando como </a:t>
            </a:r>
            <a:r>
              <a:rPr b="1" lang="en-US" sz="1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ETL</a:t>
            </a: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Consome domínios de </a:t>
            </a:r>
            <a:r>
              <a:rPr b="0" i="1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StevenBlack/hosts</a:t>
            </a: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classifica em categorias e injeta no banco.</a:t>
            </a:r>
            <a:endParaRPr b="0" sz="13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DAFFDE"/>
              </a:buClr>
              <a:buSzPts val="1300"/>
              <a:buFont typeface="Urbanist"/>
              <a:buChar char="●"/>
            </a:pP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Categorias: Adulto, Malware, Fake News, Gambling.</a:t>
            </a:r>
            <a:endParaRPr b="0" sz="13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Clr>
                <a:srgbClr val="DAFFDE"/>
              </a:buClr>
              <a:buSzPts val="1300"/>
              <a:buFont typeface="Urbanist"/>
              <a:buChar char="●"/>
            </a:pP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Consumo via APIs padronizadas.</a:t>
            </a:r>
            <a:endParaRPr b="0" sz="13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5399723" y="3429000"/>
            <a:ext cx="5924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Expõe APIs para consumo de regras, alteração de perfis e ativação de pacotes de bloqueio.</a:t>
            </a:r>
            <a:endParaRPr b="0" sz="13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00274"/>
            <a:ext cx="43434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2033587"/>
            <a:ext cx="65151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909100" y="2424113"/>
            <a:ext cx="3940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Stack de Tecnologia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909100" y="2890838"/>
            <a:ext cx="37530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Desenvolvimento com 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React</a:t>
            </a:r>
            <a:r>
              <a:rPr b="0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WXT Framework</a:t>
            </a:r>
            <a:r>
              <a:rPr b="0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TypeScript</a:t>
            </a:r>
            <a:r>
              <a:rPr b="0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Vite</a:t>
            </a:r>
            <a:r>
              <a:rPr b="0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0"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909100" y="3571875"/>
            <a:ext cx="3753000" cy="94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Interface do Usuário (UI)</a:t>
            </a:r>
            <a:endParaRPr b="1" sz="16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Construída em React com três contextos principais de renderização para feedback dinâmico.</a:t>
            </a:r>
            <a:endParaRPr b="0" sz="1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399723" y="2424113"/>
            <a:ext cx="6220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Arquitetura e Fluxo de Dados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5399723" y="2890838"/>
            <a:ext cx="59247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Extensão modular baseada em </a:t>
            </a:r>
            <a:r>
              <a:rPr b="1" lang="en-US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feature-slice</a:t>
            </a:r>
            <a:r>
              <a:rPr b="0" lang="en-US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 entrypoints definidos pelo framework WXT.</a:t>
            </a:r>
            <a:endParaRPr b="0" sz="1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5399723" y="3619500"/>
            <a:ext cx="5924700" cy="696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300"/>
              <a:buFont typeface="Urbanist"/>
              <a:buChar char="●"/>
            </a:pP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Captura status de "carregando" das abas.</a:t>
            </a:r>
            <a:endParaRPr b="0" sz="13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375"/>
              </a:spcBef>
              <a:spcAft>
                <a:spcPts val="0"/>
              </a:spcAft>
              <a:buClr>
                <a:srgbClr val="DAFFDE"/>
              </a:buClr>
              <a:buSzPts val="1300"/>
              <a:buFont typeface="Urbanist"/>
              <a:buChar char="●"/>
            </a:pP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Processa links via APIs e cálculos internos.</a:t>
            </a:r>
            <a:endParaRPr b="0" sz="13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375"/>
              </a:spcBef>
              <a:spcAft>
                <a:spcPts val="0"/>
              </a:spcAft>
              <a:buClr>
                <a:srgbClr val="DAFFDE"/>
              </a:buClr>
              <a:buSzPts val="1300"/>
              <a:buFont typeface="Urbanist"/>
              <a:buChar char="●"/>
            </a:pPr>
            <a:r>
              <a:rPr b="0" lang="en-US" sz="13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Exibe feedback em tempo real para segurança do usuário.</a:t>
            </a:r>
            <a:endParaRPr b="0" sz="13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Arquitetura do front-end</a:t>
            </a:r>
            <a:endParaRPr b="0" sz="36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4596003" y="5176828"/>
            <a:ext cx="3000000" cy="4159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extension browser</a:t>
            </a:r>
            <a:endParaRPr b="0" sz="6000">
              <a:solidFill>
                <a:srgbClr val="3B82F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Extensão Modular &amp; Reativa</a:t>
            </a:r>
            <a:endParaRPr b="0" sz="12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762000" y="571500"/>
            <a:ext cx="10668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Sincronização e Estado</a:t>
            </a:r>
            <a:endParaRPr b="0" sz="36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212" name="Google Shape;212;p23"/>
          <p:cNvGrpSpPr/>
          <p:nvPr/>
        </p:nvGrpSpPr>
        <p:grpSpPr>
          <a:xfrm>
            <a:off x="571500" y="1524000"/>
            <a:ext cx="11049000" cy="1143000"/>
            <a:chOff x="0" y="0"/>
            <a:chExt cx="11049000" cy="1143000"/>
          </a:xfrm>
        </p:grpSpPr>
        <p:sp>
          <p:nvSpPr>
            <p:cNvPr id="213" name="Google Shape;213;p23"/>
            <p:cNvSpPr/>
            <p:nvPr/>
          </p:nvSpPr>
          <p:spPr>
            <a:xfrm>
              <a:off x="0" y="0"/>
              <a:ext cx="11049000" cy="1143000"/>
            </a:xfrm>
            <a:prstGeom prst="roundRect">
              <a:avLst>
                <a:gd fmla="val 10000" name="adj"/>
              </a:avLst>
            </a:prstGeom>
            <a:solidFill>
              <a:srgbClr val="0A0A0A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3"/>
            <p:cNvSpPr txBox="1"/>
            <p:nvPr/>
          </p:nvSpPr>
          <p:spPr>
            <a:xfrm>
              <a:off x="285750" y="19050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Conceito Central: Resiliência e Autonomia</a:t>
              </a:r>
              <a:endParaRPr b="1" sz="1665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A extensão garante proteção contínua através de um design </a:t>
              </a:r>
              <a:r>
                <a:rPr b="1" lang="en-US" sz="1295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Offline-First</a:t>
              </a:r>
              <a:r>
                <a:rPr b="0" lang="en-US" sz="1295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, operando de forma independente da conectividade com as APIs.</a:t>
              </a:r>
              <a:endParaRPr b="0" sz="1295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15" name="Google Shape;215;p23"/>
          <p:cNvGrpSpPr/>
          <p:nvPr/>
        </p:nvGrpSpPr>
        <p:grpSpPr>
          <a:xfrm>
            <a:off x="571500" y="2857500"/>
            <a:ext cx="3524400" cy="3238500"/>
            <a:chOff x="0" y="0"/>
            <a:chExt cx="3524400" cy="3238500"/>
          </a:xfrm>
        </p:grpSpPr>
        <p:sp>
          <p:nvSpPr>
            <p:cNvPr id="216" name="Google Shape;216;p23"/>
            <p:cNvSpPr/>
            <p:nvPr/>
          </p:nvSpPr>
          <p:spPr>
            <a:xfrm>
              <a:off x="0" y="0"/>
              <a:ext cx="3524400" cy="3238500"/>
            </a:xfrm>
            <a:prstGeom prst="roundRect">
              <a:avLst>
                <a:gd fmla="val 3529" name="adj"/>
              </a:avLst>
            </a:prstGeom>
            <a:solidFill>
              <a:srgbClr val="0A0A0A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rofessional 3D isometric illustration of a database icon glowing next to a browser window, dark theme, tech aesthetic, blue and green neon accents.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-22071" l="0" r="2705" t="6757"/>
            <a:stretch/>
          </p:blipFill>
          <p:spPr>
            <a:xfrm>
              <a:off x="0" y="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218" name="Google Shape;218;p23"/>
            <p:cNvSpPr txBox="1"/>
            <p:nvPr/>
          </p:nvSpPr>
          <p:spPr>
            <a:xfrm>
              <a:off x="190500" y="1857375"/>
              <a:ext cx="3143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Design Offline-First</a:t>
              </a:r>
              <a:endParaRPr b="1" sz="1665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Escrita prioritária para resposta imediata. Sincronização em background via POST quando disponível.</a:t>
              </a:r>
              <a:endParaRPr b="0" sz="1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19" name="Google Shape;219;p23"/>
          <p:cNvGrpSpPr/>
          <p:nvPr/>
        </p:nvGrpSpPr>
        <p:grpSpPr>
          <a:xfrm>
            <a:off x="4333875" y="2857500"/>
            <a:ext cx="3524400" cy="3238500"/>
            <a:chOff x="0" y="0"/>
            <a:chExt cx="3524400" cy="3238500"/>
          </a:xfrm>
        </p:grpSpPr>
        <p:sp>
          <p:nvSpPr>
            <p:cNvPr id="220" name="Google Shape;220;p23"/>
            <p:cNvSpPr/>
            <p:nvPr/>
          </p:nvSpPr>
          <p:spPr>
            <a:xfrm>
              <a:off x="0" y="0"/>
              <a:ext cx="3524400" cy="3238500"/>
            </a:xfrm>
            <a:prstGeom prst="roundRect">
              <a:avLst>
                <a:gd fmla="val 3529" name="adj"/>
              </a:avLst>
            </a:prstGeom>
            <a:solidFill>
              <a:srgbClr val="0A0A0A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bstract digital visualization of data merging, two streams of light combining into one, minimalist tech style, cyan and lime color palette." id="221" name="Google Shape;221;p23"/>
            <p:cNvPicPr preferRelativeResize="0"/>
            <p:nvPr/>
          </p:nvPicPr>
          <p:blipFill rotWithShape="1">
            <a:blip r:embed="rId5">
              <a:alphaModFix/>
            </a:blip>
            <a:srcRect b="-22071" l="0" r="2705" t="6757"/>
            <a:stretch/>
          </p:blipFill>
          <p:spPr>
            <a:xfrm>
              <a:off x="0" y="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222" name="Google Shape;222;p23"/>
            <p:cNvSpPr txBox="1"/>
            <p:nvPr/>
          </p:nvSpPr>
          <p:spPr>
            <a:xfrm>
              <a:off x="190500" y="1857375"/>
              <a:ext cx="3143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Desduplicação de Estado</a:t>
              </a:r>
              <a:endParaRPr b="1" sz="1665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Inteligência na mesclagem de dados: consolida regras do servidor (IDs reais) com regras locais transitórias, evitando duplicidade na aplicação e garantindo integridade.</a:t>
              </a:r>
              <a:endParaRPr b="0" sz="1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23" name="Google Shape;223;p23"/>
          <p:cNvGrpSpPr/>
          <p:nvPr/>
        </p:nvGrpSpPr>
        <p:grpSpPr>
          <a:xfrm>
            <a:off x="8096250" y="2857500"/>
            <a:ext cx="3524400" cy="3238500"/>
            <a:chOff x="0" y="0"/>
            <a:chExt cx="3524400" cy="3238500"/>
          </a:xfrm>
        </p:grpSpPr>
        <p:sp>
          <p:nvSpPr>
            <p:cNvPr id="224" name="Google Shape;224;p23"/>
            <p:cNvSpPr/>
            <p:nvPr/>
          </p:nvSpPr>
          <p:spPr>
            <a:xfrm>
              <a:off x="0" y="0"/>
              <a:ext cx="3524400" cy="3238500"/>
            </a:xfrm>
            <a:prstGeom prst="roundRect">
              <a:avLst>
                <a:gd fmla="val 3529" name="adj"/>
              </a:avLst>
            </a:prstGeom>
            <a:solidFill>
              <a:srgbClr val="0A0A0A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leek visualization of RAM memory modules with glowing data paths, high-speed performance concept, dark background, blue highlights." id="225" name="Google Shape;225;p23"/>
            <p:cNvPicPr preferRelativeResize="0"/>
            <p:nvPr/>
          </p:nvPicPr>
          <p:blipFill rotWithShape="1">
            <a:blip r:embed="rId6">
              <a:alphaModFix/>
            </a:blip>
            <a:srcRect b="-22071" l="0" r="2705" t="6757"/>
            <a:stretch/>
          </p:blipFill>
          <p:spPr>
            <a:xfrm>
              <a:off x="0" y="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226" name="Google Shape;226;p23"/>
            <p:cNvSpPr txBox="1"/>
            <p:nvPr/>
          </p:nvSpPr>
          <p:spPr>
            <a:xfrm>
              <a:off x="190500" y="1857375"/>
              <a:ext cx="3143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Cache de Domínios</a:t>
              </a:r>
              <a:endParaRPr b="1" sz="1665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Armazenamento em memória RAM para listas de milhares de entradas. Invalidação inteligente a cada 30 min (TTL) ou por alteração de configurações no painel.</a:t>
              </a:r>
              <a:endParaRPr b="0" sz="1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227" name="Google Shape;227;p23"/>
          <p:cNvPicPr preferRelativeResize="0"/>
          <p:nvPr/>
        </p:nvPicPr>
        <p:blipFill rotWithShape="1">
          <a:blip r:embed="rId7">
            <a:alphaModFix/>
          </a:blip>
          <a:srcRect b="45972" l="0" r="0" t="45972"/>
          <a:stretch/>
        </p:blipFill>
        <p:spPr>
          <a:xfrm>
            <a:off x="0" y="6305550"/>
            <a:ext cx="12192000" cy="5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4591050" y="6305550"/>
            <a:ext cx="30003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sync_lock</a:t>
            </a:r>
            <a:endParaRPr sz="2400">
              <a:solidFill>
                <a:srgbClr val="3B82F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Sincronização Reativa &amp; Cache Inteligente</a:t>
            </a:r>
            <a:endParaRPr b="0" sz="10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81262"/>
            <a:ext cx="34924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481262"/>
            <a:ext cx="349254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481262"/>
            <a:ext cx="34924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1950" y="27670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784227" y="3414712"/>
            <a:ext cx="306694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Stack Técnica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857250" y="3824287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Django REST Framework, React 19, Vite e Tailwind CSS.</a:t>
            </a:r>
            <a:endParaRPr/>
          </a:p>
        </p:txBody>
      </p:sp>
      <p:pic>
        <p:nvPicPr>
          <p:cNvPr descr="image.png" id="239" name="Google Shape;23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251" y="27670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4562374" y="341471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Estratégia de Testes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635400" y="382428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Testes de integração para APIs e verificações manuais de UI na extensão.</a:t>
            </a:r>
            <a:endParaRPr/>
          </a:p>
        </p:txBody>
      </p:sp>
      <p:pic>
        <p:nvPicPr>
          <p:cNvPr descr="image.png" id="242" name="Google Shape;24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02700" y="276701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8340677" y="3414712"/>
            <a:ext cx="306694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Integração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8413700" y="3824287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Google Safe Browsing e VirusTotal para reputação de URL.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Implementação e Testes</a:t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24"/>
          <p:cNvPicPr preferRelativeResize="0"/>
          <p:nvPr/>
        </p:nvPicPr>
        <p:blipFill rotWithShape="1">
          <a:blip r:embed="rId8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5619750" y="270033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1700450" y="3024187"/>
            <a:ext cx="879109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Gestão e Artefatos Produzidos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4257675" y="3948112"/>
            <a:ext cx="3676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Documentação, Diagramas e Planejamento</a:t>
            </a:r>
            <a:endParaRPr/>
          </a:p>
        </p:txBody>
      </p:sp>
      <p:pic>
        <p:nvPicPr>
          <p:cNvPr descr="image.png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762000" y="571500"/>
            <a:ext cx="10668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SCRUM</a:t>
            </a:r>
            <a:endParaRPr b="0" sz="36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262" name="Google Shape;262;p26" title="Scrum-principios.jpg"/>
          <p:cNvPicPr preferRelativeResize="0"/>
          <p:nvPr/>
        </p:nvPicPr>
        <p:blipFill rotWithShape="1">
          <a:blip r:embed="rId4">
            <a:alphaModFix/>
          </a:blip>
          <a:srcRect b="0" l="3766" r="47268" t="0"/>
          <a:stretch/>
        </p:blipFill>
        <p:spPr>
          <a:xfrm>
            <a:off x="1404500" y="1943100"/>
            <a:ext cx="4104000" cy="3810000"/>
          </a:xfrm>
          <a:prstGeom prst="roundRect">
            <a:avLst>
              <a:gd fmla="val 3000" name="adj"/>
            </a:avLst>
          </a:prstGeom>
          <a:noFill/>
          <a:ln>
            <a:noFill/>
          </a:ln>
        </p:spPr>
      </p:pic>
      <p:sp>
        <p:nvSpPr>
          <p:cNvPr id="263" name="Google Shape;263;p26"/>
          <p:cNvSpPr/>
          <p:nvPr/>
        </p:nvSpPr>
        <p:spPr>
          <a:xfrm>
            <a:off x="6286500" y="1943100"/>
            <a:ext cx="5600700" cy="3810000"/>
          </a:xfrm>
          <a:prstGeom prst="roundRect">
            <a:avLst>
              <a:gd fmla="val 3000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6572250" y="2228850"/>
            <a:ext cx="5029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Metodologia Ágil e Iterativa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6572250" y="2609850"/>
            <a:ext cx="50292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b="1" lang="en-US" sz="1388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SCRUM</a:t>
            </a:r>
            <a:r>
              <a:rPr b="0" lang="en-US" sz="138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foi adotado para garantir entregas incrementais e alinhamento constante com os objetivos do projeto Zero Phishing.</a:t>
            </a:r>
            <a:endParaRPr b="0" sz="1388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lang="en-US" sz="1388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Sprints Mensais:</a:t>
            </a:r>
            <a:r>
              <a:rPr b="0" lang="en-US" sz="138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Ciclos rápidos de desenvolvimento e validação.</a:t>
            </a:r>
            <a:endParaRPr b="0" sz="1388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lang="en-US" sz="1388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Papéis:</a:t>
            </a:r>
            <a:r>
              <a:rPr b="0" lang="en-US" sz="138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Foco em transparência e auto-organização da equipe técnica.</a:t>
            </a:r>
            <a:endParaRPr b="0" sz="1388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0" lang="en-US" sz="138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lang="en-US" sz="1388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Cerimônias:</a:t>
            </a:r>
            <a:r>
              <a:rPr b="0" lang="en-US" sz="138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Planning para definição de escopo e Review para validação de artefatos.</a:t>
            </a:r>
            <a:endParaRPr b="0" i="1" sz="1388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266" name="Google Shape;266;p26"/>
          <p:cNvPicPr preferRelativeResize="0"/>
          <p:nvPr/>
        </p:nvPicPr>
        <p:blipFill rotWithShape="1">
          <a:blip r:embed="rId5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27146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7146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1875" y="27146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07929" y="27146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 txBox="1"/>
          <p:nvPr/>
        </p:nvSpPr>
        <p:spPr>
          <a:xfrm>
            <a:off x="571500" y="49625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Atualmente em fase de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Aprimoramento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expandindo métricas e dashboard.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952500" y="3590925"/>
            <a:ext cx="10287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952500" y="3619500"/>
            <a:ext cx="114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Verificação e Bloqueio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4000509" y="3619500"/>
            <a:ext cx="114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Segurança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Auth e Vazamentos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7036307" y="3619500"/>
            <a:ext cx="114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Gestão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Controle Parental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10074554" y="3619500"/>
            <a:ext cx="114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Refinamento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Melhoria do Produto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Gestão de Sprints</a:t>
            </a:r>
            <a:endParaRPr/>
          </a:p>
        </p:txBody>
      </p:sp>
      <p:sp>
        <p:nvSpPr>
          <p:cNvPr id="282" name="Google Shape;282;p2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3" name="Google Shape;283;p27"/>
          <p:cNvPicPr preferRelativeResize="0"/>
          <p:nvPr/>
        </p:nvPicPr>
        <p:blipFill rotWithShape="1">
          <a:blip r:embed="rId7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4021213" y="3275400"/>
            <a:ext cx="114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ABR - MAI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993932" y="3275400"/>
            <a:ext cx="114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MAR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- ABR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7091171" y="3275400"/>
            <a:ext cx="114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- JUN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10096496" y="3289688"/>
            <a:ext cx="114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JUN</a:t>
            </a: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- JUL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762000" y="571500"/>
            <a:ext cx="10668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Gestão de Tarefas: Métricas e Ferramentas</a:t>
            </a:r>
            <a:endParaRPr b="0" sz="36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848499" y="2628525"/>
            <a:ext cx="1417500" cy="1186500"/>
          </a:xfrm>
          <a:prstGeom prst="roundRect">
            <a:avLst>
              <a:gd fmla="val 2857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5905500" y="1714500"/>
            <a:ext cx="5715000" cy="4000500"/>
          </a:xfrm>
          <a:prstGeom prst="roundRect">
            <a:avLst>
              <a:gd fmla="val 2857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6191250" y="2000250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Ecossistema</a:t>
            </a: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de Desenvolvimento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97" name="Google Shape;297;p28"/>
          <p:cNvGrpSpPr/>
          <p:nvPr/>
        </p:nvGrpSpPr>
        <p:grpSpPr>
          <a:xfrm>
            <a:off x="6191250" y="2900934"/>
            <a:ext cx="5143500" cy="904875"/>
            <a:chOff x="0" y="0"/>
            <a:chExt cx="5143500" cy="904875"/>
          </a:xfrm>
        </p:grpSpPr>
        <p:sp>
          <p:nvSpPr>
            <p:cNvPr id="298" name="Google Shape;298;p28"/>
            <p:cNvSpPr/>
            <p:nvPr/>
          </p:nvSpPr>
          <p:spPr>
            <a:xfrm>
              <a:off x="0" y="0"/>
              <a:ext cx="5143500" cy="857400"/>
            </a:xfrm>
            <a:prstGeom prst="roundRect">
              <a:avLst>
                <a:gd fmla="val 13333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 clean do Git em fundo escuro, minimalista" id="299" name="Google Shape;299;p28"/>
            <p:cNvPicPr preferRelativeResize="0"/>
            <p:nvPr/>
          </p:nvPicPr>
          <p:blipFill rotWithShape="1">
            <a:blip r:embed="rId4">
              <a:alphaModFix/>
            </a:blip>
            <a:srcRect b="-33333" l="0" r="-33333" t="0"/>
            <a:stretch/>
          </p:blipFill>
          <p:spPr>
            <a:xfrm>
              <a:off x="142875" y="142875"/>
              <a:ext cx="762000" cy="762000"/>
            </a:xfrm>
            <a:prstGeom prst="roundRect">
              <a:avLst>
                <a:gd fmla="val 15000" name="adj"/>
              </a:avLst>
            </a:prstGeom>
            <a:noFill/>
            <a:ln>
              <a:noFill/>
            </a:ln>
          </p:spPr>
        </p:pic>
        <p:sp>
          <p:nvSpPr>
            <p:cNvPr id="300" name="Google Shape;300;p28"/>
            <p:cNvSpPr txBox="1"/>
            <p:nvPr/>
          </p:nvSpPr>
          <p:spPr>
            <a:xfrm>
              <a:off x="857250" y="142875"/>
              <a:ext cx="409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Git</a:t>
              </a:r>
              <a:endParaRPr b="1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Versionamento de código e controle de alterações distribuído.</a:t>
              </a:r>
              <a:endParaRPr b="0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01" name="Google Shape;301;p28"/>
          <p:cNvGrpSpPr/>
          <p:nvPr/>
        </p:nvGrpSpPr>
        <p:grpSpPr>
          <a:xfrm>
            <a:off x="6191250" y="3948684"/>
            <a:ext cx="5143500" cy="904875"/>
            <a:chOff x="0" y="0"/>
            <a:chExt cx="5143500" cy="904875"/>
          </a:xfrm>
        </p:grpSpPr>
        <p:sp>
          <p:nvSpPr>
            <p:cNvPr id="302" name="Google Shape;302;p28"/>
            <p:cNvSpPr/>
            <p:nvPr/>
          </p:nvSpPr>
          <p:spPr>
            <a:xfrm>
              <a:off x="0" y="0"/>
              <a:ext cx="5143500" cy="857400"/>
            </a:xfrm>
            <a:prstGeom prst="roundRect">
              <a:avLst>
                <a:gd fmla="val 13333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 do GitHub Projects, ícone de gestão de tarefas moderno" id="303" name="Google Shape;303;p28"/>
            <p:cNvPicPr preferRelativeResize="0"/>
            <p:nvPr/>
          </p:nvPicPr>
          <p:blipFill rotWithShape="1">
            <a:blip r:embed="rId5">
              <a:alphaModFix/>
            </a:blip>
            <a:srcRect b="-33333" l="0" r="-33333" t="0"/>
            <a:stretch/>
          </p:blipFill>
          <p:spPr>
            <a:xfrm>
              <a:off x="142875" y="142875"/>
              <a:ext cx="762000" cy="762000"/>
            </a:xfrm>
            <a:prstGeom prst="roundRect">
              <a:avLst>
                <a:gd fmla="val 15000" name="adj"/>
              </a:avLst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857250" y="142875"/>
              <a:ext cx="409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GitHub Projects</a:t>
              </a:r>
              <a:endParaRPr b="1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Distribuição de tarefas e acompanhamento de Sprints.</a:t>
              </a:r>
              <a:endParaRPr b="0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305" name="Google Shape;305;p28"/>
          <p:cNvPicPr preferRelativeResize="0"/>
          <p:nvPr/>
        </p:nvPicPr>
        <p:blipFill rotWithShape="1">
          <a:blip r:embed="rId6">
            <a:alphaModFix/>
          </a:blip>
          <a:srcRect b="45972" l="0" r="0" t="45972"/>
          <a:stretch/>
        </p:blipFill>
        <p:spPr>
          <a:xfrm>
            <a:off x="0" y="6305550"/>
            <a:ext cx="12192000" cy="5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1227447" y="3419467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Commits</a:t>
            </a:r>
            <a:endParaRPr b="0" sz="1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1294221" y="2742380"/>
            <a:ext cx="58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41</a:t>
            </a:r>
            <a:endParaRPr sz="320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3572099" y="2628525"/>
            <a:ext cx="1417500" cy="1186500"/>
          </a:xfrm>
          <a:prstGeom prst="roundRect">
            <a:avLst>
              <a:gd fmla="val 2857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4032583" y="3419475"/>
            <a:ext cx="709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Issues</a:t>
            </a:r>
            <a:endParaRPr b="0" sz="1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8"/>
          <p:cNvSpPr txBox="1"/>
          <p:nvPr/>
        </p:nvSpPr>
        <p:spPr>
          <a:xfrm>
            <a:off x="4011571" y="2742380"/>
            <a:ext cx="58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17</a:t>
            </a:r>
            <a:endParaRPr sz="320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2265999" y="4352925"/>
            <a:ext cx="1417500" cy="1186500"/>
          </a:xfrm>
          <a:prstGeom prst="roundRect">
            <a:avLst>
              <a:gd fmla="val 2857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2688838" y="5143867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Epicos</a:t>
            </a:r>
            <a:endParaRPr b="0" sz="1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3" name="Google Shape;313;p28"/>
          <p:cNvSpPr txBox="1"/>
          <p:nvPr/>
        </p:nvSpPr>
        <p:spPr>
          <a:xfrm>
            <a:off x="2711721" y="4466780"/>
            <a:ext cx="58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</a:t>
            </a:r>
            <a:endParaRPr sz="320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/>
          <p:nvPr/>
        </p:nvSpPr>
        <p:spPr>
          <a:xfrm>
            <a:off x="6142822" y="1861322"/>
            <a:ext cx="5600700" cy="3810000"/>
          </a:xfrm>
          <a:prstGeom prst="roundRect">
            <a:avLst>
              <a:gd fmla="val 3000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6286500" y="19573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Visão Funcional do Sistema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6286500" y="2366962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diagrama de casos de uso mapeia as interações claras entre os diferentes atores e a plataforma.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6619875" y="347186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Atores principais: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Usuário/Dependente, Administrador e APIs Externas.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6619875" y="42243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Funcionalidades: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Verificação de URLs, alertas dinâmicos, controle de whitelist/blacklist e vazamentos de e-mail.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6619875" y="49768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Integração: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Mostra como o sistema consulta a reputação externamente de forma invisível ao usuário.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Artefatos: Diagrama de Casos de Uso</a:t>
            </a:r>
            <a:endParaRPr/>
          </a:p>
        </p:txBody>
      </p:sp>
      <p:sp>
        <p:nvSpPr>
          <p:cNvPr id="325" name="Google Shape;325;p2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6" name="Google Shape;3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3471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4224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4976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 title="diagrama-caso-us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746049"/>
            <a:ext cx="4874450" cy="406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9"/>
          <p:cNvPicPr preferRelativeResize="0"/>
          <p:nvPr/>
        </p:nvPicPr>
        <p:blipFill rotWithShape="1">
          <a:blip r:embed="rId5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/>
          <p:nvPr/>
        </p:nvSpPr>
        <p:spPr>
          <a:xfrm>
            <a:off x="438150" y="1693850"/>
            <a:ext cx="5600700" cy="4130400"/>
          </a:xfrm>
          <a:prstGeom prst="roundRect">
            <a:avLst>
              <a:gd fmla="val 3000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571500" y="18049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Estrutura e Relacionamentos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571500" y="2214562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diagrama de classes detalha a estrutura de dados central do nosso backend construído em Django.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904875" y="331946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Entidade User: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Base de autenticação, armazenando dados como e-mail e PIN de segurança rápida.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904875" y="407193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Controle de Acesso: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Relações 1:N mostrando como um usuário possui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ParentalControls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 ativações de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DefaultBlockList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904875" y="51292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Regras URL: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estrutura que suporta a separação lógica entre Whitelist e Blacklist.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Artefatos: Diagrama de Classes</a:t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3" name="Google Shape;3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19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071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129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0" title="diagrama-class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8076" y="2548333"/>
            <a:ext cx="5334000" cy="2004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0"/>
          <p:cNvPicPr preferRelativeResize="0"/>
          <p:nvPr/>
        </p:nvPicPr>
        <p:blipFill rotWithShape="1">
          <a:blip r:embed="rId5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/>
          <p:nvPr/>
        </p:nvSpPr>
        <p:spPr>
          <a:xfrm>
            <a:off x="6185565" y="1621550"/>
            <a:ext cx="5600700" cy="4275900"/>
          </a:xfrm>
          <a:prstGeom prst="roundRect">
            <a:avLst>
              <a:gd fmla="val 3000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6286500" y="17335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Fluxo de Decisão do Zero Phishing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6286500" y="2143125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i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bpd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ilustra o fluxo de processos de interceptação de navegação em tempo real.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6619875" y="29432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Gatilho Inicial: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usuário acessa uma URL. A extensão intercepta via background script.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6619875" y="36957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Árvore de Decisão: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Verifica primeiro a Whitelist. Se não estiver nela, verifica Blacklist e listas padrão.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6619875" y="444817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Processo Externo: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Apenas se não houver regra local, as APIs externas são consultadas.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6619875" y="52006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Fim: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Permissão de acesso ou redirecionamento imediato para a página de bloqueio.</a:t>
            </a:r>
            <a:endParaRPr/>
          </a:p>
        </p:txBody>
      </p:sp>
      <p:sp>
        <p:nvSpPr>
          <p:cNvPr id="359" name="Google Shape;359;p3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Artefatos: Business Process Diagram (BPD)</a:t>
            </a: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943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3695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4448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5200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1" title="bp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713" y="2433339"/>
            <a:ext cx="5887276" cy="2724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1"/>
          <p:cNvPicPr preferRelativeResize="0"/>
          <p:nvPr/>
        </p:nvPicPr>
        <p:blipFill rotWithShape="1">
          <a:blip r:embed="rId5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32"/>
          <p:cNvPicPr preferRelativeResize="0"/>
          <p:nvPr/>
        </p:nvPicPr>
        <p:blipFill rotWithShape="1">
          <a:blip r:embed="rId3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/>
          <p:nvPr/>
        </p:nvSpPr>
        <p:spPr>
          <a:xfrm>
            <a:off x="471668" y="1719250"/>
            <a:ext cx="5600700" cy="4105800"/>
          </a:xfrm>
          <a:prstGeom prst="roundRect">
            <a:avLst>
              <a:gd fmla="val 3000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571500" y="18049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Gestão Ágil e Priorização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571500" y="2214562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Nosso gerenciamento de tarefas dividiu o escopo do software em Épicos e Sprints, garantindo entregas iterativas e funcionais.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904875" y="331946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Divisão em Épicos: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Proteção de Navegação, Verificação de Vazamentos, Controle de Acesso e Configurações.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904875" y="407193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User Stories: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Descrição clara do valor para o usuário (ex: "Como usuário, quero que a extensão verifique a URL atual...").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904875" y="51292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Status Atual: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Sprints 1 a 3 concluídas. Sprint 4 focada no movimento (interceptação avançada de rede e relatórios).</a:t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Artefatos: Product Backlog</a:t>
            </a:r>
            <a:endParaRPr/>
          </a:p>
        </p:txBody>
      </p:sp>
      <p:sp>
        <p:nvSpPr>
          <p:cNvPr id="379" name="Google Shape;379;p3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0" name="Google Shape;38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19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71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29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8294" y="1557475"/>
            <a:ext cx="4014331" cy="41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"/>
          <p:cNvSpPr/>
          <p:nvPr/>
        </p:nvSpPr>
        <p:spPr>
          <a:xfrm>
            <a:off x="6153150" y="1661850"/>
            <a:ext cx="5600700" cy="4105800"/>
          </a:xfrm>
          <a:prstGeom prst="roundRect">
            <a:avLst>
              <a:gd fmla="val 3000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389" name="Google Shape;3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4310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962150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3"/>
          <p:cNvSpPr txBox="1"/>
          <p:nvPr/>
        </p:nvSpPr>
        <p:spPr>
          <a:xfrm>
            <a:off x="6286500" y="18049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READMEs e Especificações</a:t>
            </a:r>
            <a:endParaRPr/>
          </a:p>
        </p:txBody>
      </p:sp>
      <p:sp>
        <p:nvSpPr>
          <p:cNvPr id="392" name="Google Shape;392;p33"/>
          <p:cNvSpPr txBox="1"/>
          <p:nvPr/>
        </p:nvSpPr>
        <p:spPr>
          <a:xfrm>
            <a:off x="6286500" y="2214562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Uma boa Engenharia de Software exige documentação técnica limpa. Os artefatos documentais garantem a manutenibilidade do código.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6619875" y="3423401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Visão Centralizada: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`README.md` principal do repositório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zero-phishing-main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descreve a arquitetura base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6619875" y="4252011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Guias de Instalação: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Passos claros para configurar os módulos independentes (`/backend` e `/extension`).</a:t>
            </a:r>
            <a:endParaRPr/>
          </a:p>
        </p:txBody>
      </p:sp>
      <p:sp>
        <p:nvSpPr>
          <p:cNvPr id="395" name="Google Shape;395;p33"/>
          <p:cNvSpPr txBox="1"/>
          <p:nvPr/>
        </p:nvSpPr>
        <p:spPr>
          <a:xfrm>
            <a:off x="6619875" y="5004486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Especificação de APIs: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Endpoints documentados com verbos, rotas e descrições para comunicação Front-Back.</a:t>
            </a:r>
            <a:endParaRPr/>
          </a:p>
        </p:txBody>
      </p:sp>
      <p:sp>
        <p:nvSpPr>
          <p:cNvPr id="396" name="Google Shape;396;p3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Artefatos: Documentação</a:t>
            </a:r>
            <a:endParaRPr/>
          </a:p>
        </p:txBody>
      </p:sp>
      <p:sp>
        <p:nvSpPr>
          <p:cNvPr id="397" name="Google Shape;397;p3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8" name="Google Shape;39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4234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25201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50044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33"/>
          <p:cNvPicPr preferRelativeResize="0"/>
          <p:nvPr/>
        </p:nvPicPr>
        <p:blipFill rotWithShape="1">
          <a:blip r:embed="rId6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Métricas e Desempenho</a:t>
            </a:r>
            <a:endParaRPr/>
          </a:p>
        </p:txBody>
      </p:sp>
      <p:sp>
        <p:nvSpPr>
          <p:cNvPr id="407" name="Google Shape;407;p34"/>
          <p:cNvSpPr/>
          <p:nvPr/>
        </p:nvSpPr>
        <p:spPr>
          <a:xfrm>
            <a:off x="571500" y="571500"/>
            <a:ext cx="57300" cy="552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8" name="Google Shape;408;p34"/>
          <p:cNvPicPr preferRelativeResize="0"/>
          <p:nvPr/>
        </p:nvPicPr>
        <p:blipFill rotWithShape="1">
          <a:blip r:embed="rId3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1613" y="1371600"/>
            <a:ext cx="92487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/>
        </p:nvSpPr>
        <p:spPr>
          <a:xfrm>
            <a:off x="904875" y="278450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Sincronização: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Fallback offline para regras personalizadas quando o servidor está indisponível.</a:t>
            </a:r>
            <a:endParaRPr/>
          </a:p>
        </p:txBody>
      </p:sp>
      <p:sp>
        <p:nvSpPr>
          <p:cNvPr id="415" name="Google Shape;415;p35"/>
          <p:cNvSpPr txBox="1"/>
          <p:nvPr/>
        </p:nvSpPr>
        <p:spPr>
          <a:xfrm>
            <a:off x="904875" y="3536975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Performance: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Otimização da verificação de links em massa via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IntersectionObserver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904875" y="428945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Interceptação: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Transição planejada para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declarativeNetRequest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(Manifest V3).</a:t>
            </a:r>
            <a:endParaRPr/>
          </a:p>
        </p:txBody>
      </p:sp>
      <p:sp>
        <p:nvSpPr>
          <p:cNvPr id="417" name="Google Shape;417;p3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Desafios e Soluções</a:t>
            </a:r>
            <a:endParaRPr/>
          </a:p>
        </p:txBody>
      </p:sp>
      <p:sp>
        <p:nvSpPr>
          <p:cNvPr id="418" name="Google Shape;418;p3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9" name="Google Shape;4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84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36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89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5"/>
          <p:cNvPicPr preferRelativeResize="0"/>
          <p:nvPr/>
        </p:nvPicPr>
        <p:blipFill rotWithShape="1">
          <a:blip r:embed="rId4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5"/>
          <p:cNvPicPr preferRelativeResize="0"/>
          <p:nvPr/>
        </p:nvPicPr>
        <p:blipFill rotWithShape="1">
          <a:blip r:embed="rId5">
            <a:alphaModFix/>
          </a:blip>
          <a:srcRect b="7287" l="0" r="0" t="0"/>
          <a:stretch/>
        </p:blipFill>
        <p:spPr>
          <a:xfrm>
            <a:off x="6327300" y="1965046"/>
            <a:ext cx="5293175" cy="35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8" name="Google Shape;428;p36"/>
          <p:cNvPicPr preferRelativeResize="0"/>
          <p:nvPr/>
        </p:nvPicPr>
        <p:blipFill rotWithShape="1">
          <a:blip r:embed="rId3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6"/>
          <p:cNvSpPr txBox="1"/>
          <p:nvPr/>
        </p:nvSpPr>
        <p:spPr>
          <a:xfrm>
            <a:off x="762000" y="571500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 Produto</a:t>
            </a:r>
            <a:endParaRPr/>
          </a:p>
        </p:txBody>
      </p:sp>
      <p:sp>
        <p:nvSpPr>
          <p:cNvPr id="430" name="Google Shape;430;p3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 txBox="1"/>
          <p:nvPr/>
        </p:nvSpPr>
        <p:spPr>
          <a:xfrm>
            <a:off x="571500" y="179070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Zero Phishing em Ação</a:t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571500" y="22002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Uma interface limpa e moderna que informa ao usuário sobre a segurança do link antes mesmo do clique, cumprindo todas as diretrizes de UX.</a:t>
            </a:r>
            <a:endParaRPr/>
          </a:p>
        </p:txBody>
      </p:sp>
      <p:sp>
        <p:nvSpPr>
          <p:cNvPr id="433" name="Google Shape;433;p36"/>
          <p:cNvSpPr txBox="1"/>
          <p:nvPr/>
        </p:nvSpPr>
        <p:spPr>
          <a:xfrm>
            <a:off x="904875" y="3476625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Badge dinâmico no ícone da extensão indicando o status atual da página.</a:t>
            </a:r>
            <a:endParaRPr/>
          </a:p>
        </p:txBody>
      </p:sp>
      <p:sp>
        <p:nvSpPr>
          <p:cNvPr id="434" name="Google Shape;434;p36"/>
          <p:cNvSpPr txBox="1"/>
          <p:nvPr/>
        </p:nvSpPr>
        <p:spPr>
          <a:xfrm>
            <a:off x="904875" y="4229100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Popup com resultados agregados do Google Safe Browsing e VirusTotal.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904875" y="4981575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Página de aviso bloqueadora nativa que age antes do ataque se concretizar.</a:t>
            </a:r>
            <a:endParaRPr/>
          </a:p>
        </p:txBody>
      </p:sp>
      <p:pic>
        <p:nvPicPr>
          <p:cNvPr descr="image.png" id="436" name="Google Shape;43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76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29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81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6977" y="952500"/>
            <a:ext cx="49530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 txBox="1"/>
          <p:nvPr/>
        </p:nvSpPr>
        <p:spPr>
          <a:xfrm>
            <a:off x="4415790" y="2212627"/>
            <a:ext cx="33604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445" name="Google Shape;445;p37"/>
          <p:cNvSpPr/>
          <p:nvPr/>
        </p:nvSpPr>
        <p:spPr>
          <a:xfrm>
            <a:off x="6086475" y="3203227"/>
            <a:ext cx="190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4905375" y="3488977"/>
            <a:ext cx="2381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Obrigado pela atenção!</a:t>
            </a:r>
            <a:endParaRPr/>
          </a:p>
        </p:txBody>
      </p:sp>
      <p:sp>
        <p:nvSpPr>
          <p:cNvPr id="447" name="Google Shape;447;p37"/>
          <p:cNvSpPr txBox="1"/>
          <p:nvPr/>
        </p:nvSpPr>
        <p:spPr>
          <a:xfrm>
            <a:off x="5076825" y="4464248"/>
            <a:ext cx="2381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github.com/ifmt-cba/zero-phishing</a:t>
            </a:r>
            <a:endParaRPr/>
          </a:p>
        </p:txBody>
      </p:sp>
      <p:pic>
        <p:nvPicPr>
          <p:cNvPr descr="image.png" id="448" name="Google Shape;44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2975" y="454596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37"/>
          <p:cNvPicPr preferRelativeResize="0"/>
          <p:nvPr/>
        </p:nvPicPr>
        <p:blipFill rotWithShape="1">
          <a:blip r:embed="rId4">
            <a:alphaModFix/>
          </a:blip>
          <a:srcRect b="0" l="0" r="0" t="91944"/>
          <a:stretch/>
        </p:blipFill>
        <p:spPr>
          <a:xfrm>
            <a:off x="0" y="6305550"/>
            <a:ext cx="12192000" cy="55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